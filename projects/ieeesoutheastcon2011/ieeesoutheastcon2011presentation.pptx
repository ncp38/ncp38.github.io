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17"/>
  </p:notesMasterIdLst>
  <p:sldIdLst>
    <p:sldId id="317" r:id="rId2"/>
    <p:sldId id="259" r:id="rId3"/>
    <p:sldId id="275" r:id="rId4"/>
    <p:sldId id="261" r:id="rId5"/>
    <p:sldId id="276" r:id="rId6"/>
    <p:sldId id="280" r:id="rId7"/>
    <p:sldId id="279" r:id="rId8"/>
    <p:sldId id="309" r:id="rId9"/>
    <p:sldId id="272" r:id="rId10"/>
    <p:sldId id="273" r:id="rId11"/>
    <p:sldId id="294" r:id="rId12"/>
    <p:sldId id="312" r:id="rId13"/>
    <p:sldId id="316" r:id="rId14"/>
    <p:sldId id="274" r:id="rId15"/>
    <p:sldId id="296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87486" autoAdjust="0"/>
  </p:normalViewPr>
  <p:slideViewPr>
    <p:cSldViewPr>
      <p:cViewPr varScale="1">
        <p:scale>
          <a:sx n="101" d="100"/>
          <a:sy n="101" d="100"/>
        </p:scale>
        <p:origin x="1488" y="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01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3A675BC-1107-4960-851D-030546FAE1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FC8B02-8DF6-4E36-BC68-B157D67F629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Such as the recent mudslides in Brazil.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DAC8BC-8399-4DCC-A5DF-CB460D33E27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15 points</a:t>
            </a:r>
          </a:p>
          <a:p>
            <a:pPr eaLnBrk="1" hangingPunct="1"/>
            <a:r>
              <a:rPr lang="en-US"/>
              <a:t>will be deducted per grid square away from the correct position, with a minimum position</a:t>
            </a:r>
          </a:p>
          <a:p>
            <a:pPr eaLnBrk="1" hangingPunct="1"/>
            <a:r>
              <a:rPr lang="en-US"/>
              <a:t>score of 0, using Manhattan Distance = |X2-X1| + |Y2-Y1|.  Any “extra” reported victims receive a penalty of -30 points.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9DF5FA-6784-49BB-AE81-9ACF773BE22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C6DBD4-97E5-4E9A-B338-2F62D39AA06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0"/>
            <a:ext cx="9144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0" y="5127625"/>
            <a:ext cx="9144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tIns="0" bIns="0" anchor="t"/>
          <a:lstStyle>
            <a:lvl1pPr algn="l">
              <a:defRPr sz="4700" b="1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2C7A84-D685-4281-9ECE-2B469B8235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7C2F86-2207-4E09-A95E-E018123CD7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0"/>
            <a:ext cx="9144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0" y="2601913"/>
            <a:ext cx="9144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tIns="0" rIns="91440" bIns="0" anchor="b"/>
          <a:lstStyle>
            <a:lvl1pPr algn="l">
              <a:defRPr sz="47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F94015-F3B1-44A2-86B8-256A21E4BA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92A37-7055-41CB-B0FA-3BFA47E140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14605-1279-4975-971A-AB59CF1634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90751-1CAD-4592-A90E-DA3E824929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49FF4-219F-4BEB-B014-BF836829A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D39A4-1ED3-4D33-9A4C-CC5FD1E246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165100" y="1169988"/>
            <a:ext cx="2522538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300" y="1169988"/>
            <a:ext cx="5194300" cy="201612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138" y="1169988"/>
            <a:ext cx="733425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0CCBE-3193-4E7E-B2D3-8DD815F14B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B7D9BA-D742-4169-90F6-4CFA96E0D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invGray">
          <a:xfrm>
            <a:off x="6599238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ltGray">
          <a:xfrm>
            <a:off x="6648450" y="0"/>
            <a:ext cx="25146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3" y="6376988"/>
            <a:ext cx="38369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6383B-6881-47CF-8F8A-6253C9AF7B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066800" y="1981200"/>
            <a:ext cx="7543800" cy="41148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C76D3C-BC52-4DE2-A0C0-20576E3F0B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6688"/>
            <a:ext cx="9144000" cy="444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4000" cy="14335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74825"/>
            <a:ext cx="8229600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013" y="6477000"/>
            <a:ext cx="5508625" cy="274638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200" y="6477000"/>
            <a:ext cx="733425" cy="274638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 smtClean="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>
              <a:defRPr/>
            </a:pPr>
            <a:fld id="{43923D9D-3D7B-4075-8633-D8415D1012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0" r:id="rId2"/>
    <p:sldLayoutId id="2147483916" r:id="rId3"/>
    <p:sldLayoutId id="2147483911" r:id="rId4"/>
    <p:sldLayoutId id="2147483912" r:id="rId5"/>
    <p:sldLayoutId id="2147483913" r:id="rId6"/>
    <p:sldLayoutId id="2147483917" r:id="rId7"/>
    <p:sldLayoutId id="2147483918" r:id="rId8"/>
    <p:sldLayoutId id="2147483919" r:id="rId9"/>
    <p:sldLayoutId id="2147483914" r:id="rId10"/>
    <p:sldLayoutId id="2147483920" r:id="rId11"/>
    <p:sldLayoutId id="2147483921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500" b="1" kern="1200">
          <a:solidFill>
            <a:srgbClr val="FFC8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9pPr>
      <a:extLst/>
    </p:titleStyle>
    <p:bodyStyle>
      <a:lvl1pPr marL="438150" indent="-319088" algn="l" rtl="0" fontAlgn="base">
        <a:spcBef>
          <a:spcPct val="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730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fontAlgn="base">
        <a:spcBef>
          <a:spcPct val="20000"/>
        </a:spcBef>
        <a:spcAft>
          <a:spcPct val="0"/>
        </a:spcAft>
        <a:buClr>
          <a:srgbClr val="E66C7D"/>
        </a:buClr>
        <a:buFont typeface="Arial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025" indent="-182563" algn="l" rtl="0" fontAlgn="base">
        <a:spcBef>
          <a:spcPct val="20000"/>
        </a:spcBef>
        <a:spcAft>
          <a:spcPct val="0"/>
        </a:spcAft>
        <a:buClr>
          <a:srgbClr val="6BB76D"/>
        </a:buClr>
        <a:buFont typeface="Arial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182563" algn="l" rtl="0" fontAlgn="base">
        <a:spcBef>
          <a:spcPct val="20000"/>
        </a:spcBef>
        <a:spcAft>
          <a:spcPct val="0"/>
        </a:spcAft>
        <a:buClr>
          <a:srgbClr val="E88651"/>
        </a:buClr>
        <a:buFont typeface="Wingdings 3" pitchFamily="18" charset="2"/>
        <a:buChar char="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200400"/>
            <a:ext cx="6400800" cy="3124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Nate Phillips</a:t>
            </a:r>
          </a:p>
          <a:p>
            <a:pPr>
              <a:lnSpc>
                <a:spcPct val="80000"/>
              </a:lnSpc>
            </a:pPr>
            <a:r>
              <a:rPr lang="en-US" sz="2800"/>
              <a:t>Lindsey Hodges</a:t>
            </a:r>
          </a:p>
          <a:p>
            <a:pPr>
              <a:lnSpc>
                <a:spcPct val="80000"/>
              </a:lnSpc>
            </a:pPr>
            <a:r>
              <a:rPr lang="en-US" sz="2800"/>
              <a:t>Wani Hakim</a:t>
            </a:r>
          </a:p>
          <a:p>
            <a:pPr>
              <a:lnSpc>
                <a:spcPct val="80000"/>
              </a:lnSpc>
            </a:pPr>
            <a:endParaRPr lang="en-US" sz="2800"/>
          </a:p>
          <a:p>
            <a:pPr>
              <a:lnSpc>
                <a:spcPct val="80000"/>
              </a:lnSpc>
            </a:pPr>
            <a:endParaRPr lang="en-US" sz="2800"/>
          </a:p>
          <a:p>
            <a:pPr>
              <a:lnSpc>
                <a:spcPct val="80000"/>
              </a:lnSpc>
            </a:pPr>
            <a:endParaRPr lang="en-US" sz="2800"/>
          </a:p>
          <a:p>
            <a:pPr>
              <a:lnSpc>
                <a:spcPct val="80000"/>
              </a:lnSpc>
            </a:pPr>
            <a:endParaRPr lang="en-US" sz="2800"/>
          </a:p>
          <a:p>
            <a:pPr>
              <a:lnSpc>
                <a:spcPct val="80000"/>
              </a:lnSpc>
            </a:pPr>
            <a:r>
              <a:rPr lang="en-US" sz="2800"/>
              <a:t>ECE 410</a:t>
            </a:r>
          </a:p>
          <a:p>
            <a:pPr>
              <a:lnSpc>
                <a:spcPct val="80000"/>
              </a:lnSpc>
            </a:pPr>
            <a:r>
              <a:rPr lang="en-US" sz="2800"/>
              <a:t>January 29, 2011</a:t>
            </a:r>
          </a:p>
        </p:txBody>
      </p:sp>
      <p:sp>
        <p:nvSpPr>
          <p:cNvPr id="9219" name="Text Box 4"/>
          <p:cNvSpPr txBox="1">
            <a:spLocks noChangeArrowheads="1"/>
          </p:cNvSpPr>
          <p:nvPr/>
        </p:nvSpPr>
        <p:spPr bwMode="auto">
          <a:xfrm>
            <a:off x="685800" y="990600"/>
            <a:ext cx="8458200" cy="17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3000" b="1">
                <a:latin typeface="Tahoma" pitchFamily="34" charset="0"/>
              </a:rPr>
              <a:t>Autonomous Emergency Response Robot</a:t>
            </a:r>
          </a:p>
          <a:p>
            <a:pPr eaLnBrk="0" hangingPunct="0"/>
            <a:endParaRPr lang="en-US" sz="2800">
              <a:latin typeface="Tahoma" pitchFamily="34" charset="0"/>
            </a:endParaRPr>
          </a:p>
          <a:p>
            <a:pPr eaLnBrk="0" hangingPunct="0"/>
            <a:endParaRPr lang="en-US" sz="2800">
              <a:latin typeface="Tahoma" pitchFamily="34" charset="0"/>
            </a:endParaRPr>
          </a:p>
          <a:p>
            <a:pPr eaLnBrk="0" hangingPunct="0"/>
            <a:r>
              <a:rPr lang="en-US" sz="2400">
                <a:latin typeface="Tahoma" pitchFamily="34" charset="0"/>
              </a:rPr>
              <a:t>IEEE SoutheastCon Hardware Competition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31925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dirty="0" err="1">
                <a:solidFill>
                  <a:schemeClr val="accent1">
                    <a:satMod val="150000"/>
                  </a:schemeClr>
                </a:solidFill>
              </a:rPr>
              <a:t>SoutheastCon</a:t>
            </a: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 Hardware Competition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5105400"/>
            <a:ext cx="7848600" cy="1981200"/>
          </a:xfrm>
        </p:spPr>
        <p:txBody>
          <a:bodyPr/>
          <a:lstStyle/>
          <a:p>
            <a:r>
              <a:rPr lang="en-US" sz="2000"/>
              <a:t>Theme:</a:t>
            </a:r>
          </a:p>
          <a:p>
            <a:pPr lvl="1"/>
            <a:r>
              <a:rPr lang="en-US" sz="2000"/>
              <a:t>Natural disasters can devastate whole countries.</a:t>
            </a:r>
          </a:p>
          <a:p>
            <a:pPr lvl="1"/>
            <a:r>
              <a:rPr lang="en-US" sz="2000"/>
              <a:t>Fast emergency response is critical for preventing further crisis and saving lives.</a:t>
            </a:r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3"/>
          <a:srcRect l="29584" t="16296" r="14999" b="11852"/>
          <a:stretch>
            <a:fillRect/>
          </a:stretch>
        </p:blipFill>
        <p:spPr bwMode="auto">
          <a:xfrm>
            <a:off x="2057400" y="1600200"/>
            <a:ext cx="50165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Design Specifications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5029200"/>
          </a:xfrm>
        </p:spPr>
        <p:txBody>
          <a:bodyPr/>
          <a:lstStyle/>
          <a:p>
            <a:r>
              <a:rPr lang="en-US" sz="2000"/>
              <a:t>Purpose:</a:t>
            </a:r>
          </a:p>
          <a:p>
            <a:pPr lvl="1"/>
            <a:r>
              <a:rPr lang="en-US" sz="2000"/>
              <a:t>Build an autonomous emergency response robot that can safely evaluate the situation and relay vital information to emergency response teams.</a:t>
            </a:r>
          </a:p>
          <a:p>
            <a:r>
              <a:rPr lang="en-US" sz="2000"/>
              <a:t>Goals:</a:t>
            </a:r>
          </a:p>
          <a:p>
            <a:pPr lvl="1"/>
            <a:r>
              <a:rPr lang="en-US" sz="2000"/>
              <a:t>Navigate through specified floor plan</a:t>
            </a:r>
          </a:p>
          <a:p>
            <a:pPr lvl="1"/>
            <a:r>
              <a:rPr lang="en-US" sz="2000"/>
              <a:t>Identify and avoid obstacles</a:t>
            </a:r>
          </a:p>
          <a:p>
            <a:pPr lvl="1"/>
            <a:r>
              <a:rPr lang="en-US" sz="2000"/>
              <a:t>Sense hazards</a:t>
            </a:r>
          </a:p>
          <a:p>
            <a:pPr lvl="1"/>
            <a:r>
              <a:rPr lang="en-US" sz="2000"/>
              <a:t>Find and determine status of victims</a:t>
            </a:r>
          </a:p>
          <a:p>
            <a:pPr lvl="1"/>
            <a:r>
              <a:rPr lang="en-US" sz="2000"/>
              <a:t>Report vital information to emergency responders</a:t>
            </a:r>
          </a:p>
          <a:p>
            <a:r>
              <a:rPr lang="en-US" sz="2000"/>
              <a:t>Restrictions:</a:t>
            </a:r>
          </a:p>
          <a:p>
            <a:pPr lvl="1"/>
            <a:r>
              <a:rPr lang="en-US" sz="2000"/>
              <a:t>Size: 20 x 20 x 20 cm</a:t>
            </a:r>
          </a:p>
          <a:p>
            <a:pPr lvl="1"/>
            <a:r>
              <a:rPr lang="en-US" sz="2000"/>
              <a:t>Time Limit: 4 minutes</a:t>
            </a:r>
          </a:p>
          <a:p>
            <a:pPr lvl="1"/>
            <a:r>
              <a:rPr lang="en-US" sz="2000"/>
              <a:t>Robot can not jump, fly, hover, or climb over walls.</a:t>
            </a:r>
          </a:p>
          <a:p>
            <a:pPr lvl="1"/>
            <a:r>
              <a:rPr lang="en-US" sz="2000"/>
              <a:t>Wireless communication is not allowed.</a:t>
            </a:r>
          </a:p>
          <a:p>
            <a:pPr lvl="1"/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76200"/>
            <a:ext cx="7543800" cy="14319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Scoring</a:t>
            </a:r>
          </a:p>
        </p:txBody>
      </p:sp>
      <p:graphicFrame>
        <p:nvGraphicFramePr>
          <p:cNvPr id="94263" name="Group 55"/>
          <p:cNvGraphicFramePr>
            <a:graphicFrameLocks noGrp="1"/>
          </p:cNvGraphicFramePr>
          <p:nvPr>
            <p:ph type="tbl" idx="1"/>
          </p:nvPr>
        </p:nvGraphicFramePr>
        <p:xfrm>
          <a:off x="800100" y="2057400"/>
          <a:ext cx="7543800" cy="4030663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2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Category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Points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Total 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Audio Output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Digital Display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Victim Position*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720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Victim Status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480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1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Hazard Location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</a:rPr>
                        <a:t>1,600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Course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67000"/>
            <a:ext cx="457200" cy="228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3316" name="Picture 1"/>
          <p:cNvPicPr>
            <a:picLocks noChangeAspect="1" noChangeArrowheads="1"/>
          </p:cNvPicPr>
          <p:nvPr/>
        </p:nvPicPr>
        <p:blipFill>
          <a:blip r:embed="rId3"/>
          <a:srcRect l="7378" t="20934" r="35175" b="9883"/>
          <a:stretch>
            <a:fillRect/>
          </a:stretch>
        </p:blipFill>
        <p:spPr bwMode="auto">
          <a:xfrm>
            <a:off x="4572000" y="3627438"/>
            <a:ext cx="4267200" cy="289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7" name="TextBox 8"/>
          <p:cNvSpPr txBox="1">
            <a:spLocks noChangeArrowheads="1"/>
          </p:cNvSpPr>
          <p:nvPr/>
        </p:nvSpPr>
        <p:spPr bwMode="auto">
          <a:xfrm>
            <a:off x="5029200" y="5105400"/>
            <a:ext cx="3714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600"/>
              <a:t>1</a:t>
            </a:r>
          </a:p>
        </p:txBody>
      </p:sp>
      <p:sp>
        <p:nvSpPr>
          <p:cNvPr id="13318" name="TextBox 9"/>
          <p:cNvSpPr txBox="1">
            <a:spLocks noChangeArrowheads="1"/>
          </p:cNvSpPr>
          <p:nvPr/>
        </p:nvSpPr>
        <p:spPr bwMode="auto">
          <a:xfrm>
            <a:off x="7467600" y="5486400"/>
            <a:ext cx="4016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600"/>
              <a:t>4</a:t>
            </a:r>
          </a:p>
        </p:txBody>
      </p:sp>
      <p:sp>
        <p:nvSpPr>
          <p:cNvPr id="13319" name="TextBox 10"/>
          <p:cNvSpPr txBox="1">
            <a:spLocks noChangeArrowheads="1"/>
          </p:cNvSpPr>
          <p:nvPr/>
        </p:nvSpPr>
        <p:spPr bwMode="auto">
          <a:xfrm>
            <a:off x="7772400" y="3810000"/>
            <a:ext cx="381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600"/>
              <a:t>3</a:t>
            </a:r>
          </a:p>
        </p:txBody>
      </p:sp>
      <p:sp>
        <p:nvSpPr>
          <p:cNvPr id="13320" name="TextBox 11"/>
          <p:cNvSpPr txBox="1">
            <a:spLocks noChangeArrowheads="1"/>
          </p:cNvSpPr>
          <p:nvPr/>
        </p:nvSpPr>
        <p:spPr bwMode="auto">
          <a:xfrm>
            <a:off x="5791200" y="3733800"/>
            <a:ext cx="381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600"/>
              <a:t>2</a:t>
            </a:r>
          </a:p>
        </p:txBody>
      </p:sp>
      <p:sp>
        <p:nvSpPr>
          <p:cNvPr id="13321" name="TextBox 12"/>
          <p:cNvSpPr txBox="1">
            <a:spLocks noChangeArrowheads="1"/>
          </p:cNvSpPr>
          <p:nvPr/>
        </p:nvSpPr>
        <p:spPr bwMode="auto">
          <a:xfrm>
            <a:off x="4495800" y="1981200"/>
            <a:ext cx="46482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/>
              <a:t> RED: designated starting area </a:t>
            </a:r>
          </a:p>
          <a:p>
            <a:pPr>
              <a:buFont typeface="Wingdings" pitchFamily="2" charset="2"/>
              <a:buChar char="§"/>
            </a:pPr>
            <a:r>
              <a:rPr lang="en-US" sz="2000"/>
              <a:t>10 x 10 grid for victims and hazards</a:t>
            </a:r>
          </a:p>
          <a:p>
            <a:pPr>
              <a:buFont typeface="Wingdings" pitchFamily="2" charset="2"/>
              <a:buChar char="§"/>
            </a:pPr>
            <a:r>
              <a:rPr lang="en-US" sz="2000"/>
              <a:t> obstacles can be placed at any angle in hallways and rooms</a:t>
            </a:r>
          </a:p>
        </p:txBody>
      </p:sp>
      <p:pic>
        <p:nvPicPr>
          <p:cNvPr id="13322" name="Picture 13"/>
          <p:cNvPicPr>
            <a:picLocks noChangeAspect="1" noChangeArrowheads="1"/>
          </p:cNvPicPr>
          <p:nvPr/>
        </p:nvPicPr>
        <p:blipFill>
          <a:blip r:embed="rId4"/>
          <a:srcRect l="5000" t="5469" r="67500" b="60156"/>
          <a:stretch>
            <a:fillRect/>
          </a:stretch>
        </p:blipFill>
        <p:spPr bwMode="auto">
          <a:xfrm>
            <a:off x="228600" y="2057400"/>
            <a:ext cx="4191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3" name="TextBox 5"/>
          <p:cNvSpPr txBox="1">
            <a:spLocks noChangeArrowheads="1"/>
          </p:cNvSpPr>
          <p:nvPr/>
        </p:nvSpPr>
        <p:spPr bwMode="auto">
          <a:xfrm>
            <a:off x="5562600" y="5791200"/>
            <a:ext cx="990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667000"/>
            <a:ext cx="533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rot="5400000">
            <a:off x="495300" y="2857500"/>
            <a:ext cx="5334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Navigation Platform</a:t>
            </a:r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2"/>
          <a:srcRect l="5658" t="40767" r="61807" b="30930"/>
          <a:stretch>
            <a:fillRect/>
          </a:stretch>
        </p:blipFill>
        <p:spPr bwMode="auto">
          <a:xfrm>
            <a:off x="1274763" y="3632200"/>
            <a:ext cx="6594475" cy="322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0" name="TextBox 4"/>
          <p:cNvSpPr txBox="1">
            <a:spLocks noChangeArrowheads="1"/>
          </p:cNvSpPr>
          <p:nvPr/>
        </p:nvSpPr>
        <p:spPr bwMode="auto">
          <a:xfrm>
            <a:off x="762000" y="1600200"/>
            <a:ext cx="34290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/>
              <a:t> Platform has the same orientation even when body rotates.</a:t>
            </a:r>
          </a:p>
          <a:p>
            <a:pPr>
              <a:buFont typeface="Arial" charset="0"/>
              <a:buChar char="•"/>
            </a:pPr>
            <a:r>
              <a:rPr lang="en-US"/>
              <a:t> B = North</a:t>
            </a:r>
          </a:p>
          <a:p>
            <a:pPr>
              <a:buFont typeface="Arial" charset="0"/>
              <a:buChar char="•"/>
            </a:pPr>
            <a:r>
              <a:rPr lang="en-US"/>
              <a:t> A = West</a:t>
            </a:r>
          </a:p>
          <a:p>
            <a:pPr>
              <a:buFont typeface="Arial" charset="0"/>
              <a:buChar char="•"/>
            </a:pPr>
            <a:r>
              <a:rPr lang="en-US"/>
              <a:t> C = East</a:t>
            </a:r>
          </a:p>
          <a:p>
            <a:pPr>
              <a:buFont typeface="Arial" charset="0"/>
              <a:buChar char="•"/>
            </a:pPr>
            <a:r>
              <a:rPr lang="en-US"/>
              <a:t> D = South</a:t>
            </a:r>
          </a:p>
        </p:txBody>
      </p:sp>
      <p:sp>
        <p:nvSpPr>
          <p:cNvPr id="14341" name="Rectangle 7"/>
          <p:cNvSpPr>
            <a:spLocks noChangeArrowheads="1"/>
          </p:cNvSpPr>
          <p:nvPr/>
        </p:nvSpPr>
        <p:spPr bwMode="auto">
          <a:xfrm>
            <a:off x="4267200" y="1600200"/>
            <a:ext cx="434340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/>
              <a:t> Distance measurements used in calibration:</a:t>
            </a:r>
          </a:p>
          <a:p>
            <a:pPr lvl="1">
              <a:buFont typeface="Arial" charset="0"/>
              <a:buChar char="•"/>
            </a:pPr>
            <a:r>
              <a:rPr lang="en-US"/>
              <a:t> DB = constant  2 cm</a:t>
            </a:r>
          </a:p>
          <a:p>
            <a:pPr lvl="1">
              <a:buFont typeface="Arial" charset="0"/>
              <a:buChar char="•"/>
            </a:pPr>
            <a:r>
              <a:rPr lang="en-US"/>
              <a:t> DA + DB + DC = hallway width or distance between room walls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7"/>
          <p:cNvPicPr>
            <a:picLocks noChangeAspect="1" noChangeArrowheads="1"/>
          </p:cNvPicPr>
          <p:nvPr/>
        </p:nvPicPr>
        <p:blipFill>
          <a:blip r:embed="rId2"/>
          <a:srcRect l="40598" t="9418" r="7727" b="12593"/>
          <a:stretch>
            <a:fillRect/>
          </a:stretch>
        </p:blipFill>
        <p:spPr bwMode="auto">
          <a:xfrm>
            <a:off x="4479925" y="1600200"/>
            <a:ext cx="4475163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Calibrating Sensors</a:t>
            </a: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228600" y="5546725"/>
            <a:ext cx="64770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/>
              <a:t> Arduino code:</a:t>
            </a:r>
          </a:p>
          <a:p>
            <a:pPr lvl="1">
              <a:buFont typeface="Arial" charset="0"/>
              <a:buChar char="•"/>
            </a:pPr>
            <a:r>
              <a:rPr lang="en-US"/>
              <a:t> float volts = analogRead(IRpin)*0.0048828125; </a:t>
            </a:r>
          </a:p>
          <a:p>
            <a:pPr lvl="1">
              <a:buFont typeface="Arial" charset="0"/>
              <a:buChar char="•"/>
            </a:pPr>
            <a:r>
              <a:rPr lang="en-US"/>
              <a:t> float distance = 28*pow(volts, -1.0);</a:t>
            </a:r>
          </a:p>
        </p:txBody>
      </p:sp>
      <p:sp>
        <p:nvSpPr>
          <p:cNvPr id="15365" name="Rectangle 7"/>
          <p:cNvSpPr>
            <a:spLocks noChangeArrowheads="1"/>
          </p:cNvSpPr>
          <p:nvPr/>
        </p:nvSpPr>
        <p:spPr bwMode="auto">
          <a:xfrm>
            <a:off x="381000" y="1828800"/>
            <a:ext cx="3810000" cy="286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/>
              <a:t> The IR sensors sit further inward to prevent the spike in error between 0 cm and 8 cm.</a:t>
            </a:r>
          </a:p>
          <a:p>
            <a:pPr>
              <a:buFont typeface="Wingdings" pitchFamily="2" charset="2"/>
              <a:buChar char="§"/>
            </a:pPr>
            <a:endParaRPr lang="en-US"/>
          </a:p>
          <a:p>
            <a:pPr>
              <a:buFont typeface="Wingdings" pitchFamily="2" charset="2"/>
              <a:buChar char="§"/>
            </a:pPr>
            <a:r>
              <a:rPr lang="en-US"/>
              <a:t> Voltage rating of 5V divided by 1024 points to give a value per step</a:t>
            </a:r>
          </a:p>
          <a:p>
            <a:pPr marL="742950" lvl="1" indent="-285750">
              <a:buFontTx/>
              <a:buChar char="•"/>
            </a:pPr>
            <a:r>
              <a:rPr lang="en-US"/>
              <a:t>5V/1024 = 0.0048828125</a:t>
            </a:r>
          </a:p>
          <a:p>
            <a:pPr>
              <a:buFont typeface="Wingdings" pitchFamily="2" charset="2"/>
              <a:buChar char="§"/>
            </a:pPr>
            <a:r>
              <a:rPr lang="en-US"/>
              <a:t> Exponential</a:t>
            </a:r>
          </a:p>
          <a:p>
            <a:pPr marL="742950" lvl="1" indent="-285750">
              <a:buFontTx/>
              <a:buChar char="•"/>
            </a:pPr>
            <a:r>
              <a:rPr lang="en-US"/>
              <a:t>Slope: 1/Volts * 28</a:t>
            </a:r>
          </a:p>
          <a:p>
            <a:pPr marL="742950" lvl="1" indent="-285750">
              <a:buFontTx/>
              <a:buChar char="•"/>
            </a:pPr>
            <a:r>
              <a:rPr lang="en-US"/>
              <a:t>Distance = (Volts x)*28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Obstacle Detection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/>
          <a:srcRect l="17532" t="21852" r="43045" b="11481"/>
          <a:stretch>
            <a:fillRect/>
          </a:stretch>
        </p:blipFill>
        <p:spPr bwMode="auto">
          <a:xfrm>
            <a:off x="438150" y="1524000"/>
            <a:ext cx="5392738" cy="512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Down Arrow 9"/>
          <p:cNvSpPr/>
          <p:nvPr/>
        </p:nvSpPr>
        <p:spPr>
          <a:xfrm rot="5400000">
            <a:off x="6057900" y="1485900"/>
            <a:ext cx="685800" cy="54864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Down Arrow 7"/>
          <p:cNvSpPr/>
          <p:nvPr/>
        </p:nvSpPr>
        <p:spPr>
          <a:xfrm rot="5400000">
            <a:off x="6096000" y="2286000"/>
            <a:ext cx="685800" cy="54102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90" name="TextBox 8"/>
          <p:cNvSpPr txBox="1">
            <a:spLocks noChangeArrowheads="1"/>
          </p:cNvSpPr>
          <p:nvPr/>
        </p:nvSpPr>
        <p:spPr bwMode="auto">
          <a:xfrm>
            <a:off x="6248400" y="3998913"/>
            <a:ext cx="28956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Obstacle Detector</a:t>
            </a:r>
          </a:p>
        </p:txBody>
      </p:sp>
      <p:sp>
        <p:nvSpPr>
          <p:cNvPr id="16391" name="TextBox 10"/>
          <p:cNvSpPr txBox="1">
            <a:spLocks noChangeArrowheads="1"/>
          </p:cNvSpPr>
          <p:nvPr/>
        </p:nvSpPr>
        <p:spPr bwMode="auto">
          <a:xfrm>
            <a:off x="6324600" y="4760913"/>
            <a:ext cx="2819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180° Servo Motor</a:t>
            </a:r>
          </a:p>
        </p:txBody>
      </p:sp>
      <p:sp>
        <p:nvSpPr>
          <p:cNvPr id="13" name="Down Arrow 12"/>
          <p:cNvSpPr/>
          <p:nvPr/>
        </p:nvSpPr>
        <p:spPr>
          <a:xfrm rot="5400000">
            <a:off x="6172200" y="2971800"/>
            <a:ext cx="533400" cy="54102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93" name="TextBox 13"/>
          <p:cNvSpPr txBox="1">
            <a:spLocks noChangeArrowheads="1"/>
          </p:cNvSpPr>
          <p:nvPr/>
        </p:nvSpPr>
        <p:spPr bwMode="auto">
          <a:xfrm>
            <a:off x="6248400" y="5446713"/>
            <a:ext cx="2438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Victim Detector</a:t>
            </a:r>
          </a:p>
        </p:txBody>
      </p:sp>
      <p:sp>
        <p:nvSpPr>
          <p:cNvPr id="11" name="Down Arrow 10"/>
          <p:cNvSpPr/>
          <p:nvPr/>
        </p:nvSpPr>
        <p:spPr>
          <a:xfrm rot="5400000">
            <a:off x="6057900" y="-38100"/>
            <a:ext cx="685800" cy="54864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95" name="TextBox 8"/>
          <p:cNvSpPr txBox="1">
            <a:spLocks noChangeArrowheads="1"/>
          </p:cNvSpPr>
          <p:nvPr/>
        </p:nvSpPr>
        <p:spPr bwMode="auto">
          <a:xfrm>
            <a:off x="6248400" y="2474913"/>
            <a:ext cx="28956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360° Servo Motor</a:t>
            </a:r>
          </a:p>
        </p:txBody>
      </p:sp>
      <p:sp>
        <p:nvSpPr>
          <p:cNvPr id="15" name="Down Arrow 14"/>
          <p:cNvSpPr/>
          <p:nvPr/>
        </p:nvSpPr>
        <p:spPr>
          <a:xfrm rot="5400000">
            <a:off x="6210300" y="-571500"/>
            <a:ext cx="685800" cy="51816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97" name="TextBox 8"/>
          <p:cNvSpPr txBox="1">
            <a:spLocks noChangeArrowheads="1"/>
          </p:cNvSpPr>
          <p:nvPr/>
        </p:nvSpPr>
        <p:spPr bwMode="auto">
          <a:xfrm>
            <a:off x="6096000" y="1789113"/>
            <a:ext cx="319246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Navigation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Obstacle Avoidance</a:t>
            </a: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2"/>
          <a:srcRect l="3369" t="36946" r="61493" b="35291"/>
          <a:stretch>
            <a:fillRect/>
          </a:stretch>
        </p:blipFill>
        <p:spPr bwMode="auto">
          <a:xfrm>
            <a:off x="819150" y="1555750"/>
            <a:ext cx="7505700" cy="333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600200" y="5257800"/>
            <a:ext cx="3505200" cy="1219200"/>
          </a:xfrm>
          <a:prstGeom prst="rect">
            <a:avLst/>
          </a:prstGeom>
        </p:spPr>
        <p:txBody>
          <a:bodyPr lIns="54864" tIns="91440"/>
          <a:lstStyle/>
          <a:p>
            <a:pPr marL="438912" indent="-32004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dirty="0">
                <a:latin typeface="+mn-lt"/>
              </a:rPr>
              <a:t>Objects to Avoid:</a:t>
            </a:r>
          </a:p>
          <a:p>
            <a:pPr marL="731520" lvl="1" indent="-274320" fontAlgn="auto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r>
              <a:rPr lang="en-US" dirty="0">
                <a:latin typeface="+mn-lt"/>
              </a:rPr>
              <a:t>Walls</a:t>
            </a:r>
          </a:p>
          <a:p>
            <a:pPr marL="731520" lvl="1" indent="-274320" fontAlgn="auto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r>
              <a:rPr lang="en-US" dirty="0">
                <a:latin typeface="+mn-lt"/>
              </a:rPr>
              <a:t>3 cm x 2 cm victims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800600" y="5638800"/>
            <a:ext cx="3657600" cy="838200"/>
          </a:xfrm>
          <a:prstGeom prst="rect">
            <a:avLst/>
          </a:prstGeom>
        </p:spPr>
        <p:txBody>
          <a:bodyPr lIns="54864" tIns="91440"/>
          <a:lstStyle/>
          <a:p>
            <a:pPr marL="731520" lvl="1" indent="-274320" fontAlgn="auto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r>
              <a:rPr lang="en-US" dirty="0">
                <a:latin typeface="+mn-lt"/>
              </a:rPr>
              <a:t>4 cm x 9 cm obstacles</a:t>
            </a:r>
          </a:p>
          <a:p>
            <a:pPr marL="731520" lvl="1" indent="-274320" fontAlgn="auto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r>
              <a:rPr lang="en-US" dirty="0">
                <a:latin typeface="+mn-lt"/>
              </a:rPr>
              <a:t>2 cm x 4 cm obstacles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Obstacle Avoidance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0" y="2057400"/>
            <a:ext cx="4724400" cy="4953000"/>
          </a:xfrm>
        </p:spPr>
        <p:txBody>
          <a:bodyPr/>
          <a:lstStyle/>
          <a:p>
            <a:r>
              <a:rPr lang="en-US" sz="1800"/>
              <a:t>The robot must know where the obstacles and the walls are to navigate through the course.</a:t>
            </a:r>
          </a:p>
          <a:p>
            <a:r>
              <a:rPr lang="en-US" sz="1800"/>
              <a:t>The servo motor pans from 30° to 150° so the infrared sensor can take measurements. </a:t>
            </a:r>
          </a:p>
          <a:p>
            <a:r>
              <a:rPr lang="en-US" sz="1800"/>
              <a:t>Values returned are distance measurements </a:t>
            </a:r>
          </a:p>
          <a:p>
            <a:pPr>
              <a:buFont typeface="Wingdings" pitchFamily="2" charset="2"/>
              <a:buNone/>
            </a:pPr>
            <a:r>
              <a:rPr lang="en-US" sz="1800"/>
              <a:t>	( ex. [121, 83, 2, 2, 2, 2, 54, 85, 141] )</a:t>
            </a:r>
          </a:p>
          <a:p>
            <a:pPr>
              <a:buFont typeface="Wingdings" pitchFamily="2" charset="2"/>
              <a:buNone/>
            </a:pPr>
            <a:r>
              <a:rPr lang="en-US" sz="1800"/>
              <a:t>	where the value indicates how close the object is to the robot.</a:t>
            </a:r>
          </a:p>
          <a:p>
            <a:r>
              <a:rPr lang="en-US" sz="1800"/>
              <a:t>Program analyzes the values returned and the angle of the servo motor to decide whether the robot can fit around the obstacle or if it needs to try a different route.</a:t>
            </a:r>
          </a:p>
        </p:txBody>
      </p:sp>
      <p:pic>
        <p:nvPicPr>
          <p:cNvPr id="18436" name="Content Placeholder 5"/>
          <p:cNvPicPr>
            <a:picLocks/>
          </p:cNvPicPr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4800600" y="1905000"/>
            <a:ext cx="41910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TextBox 5"/>
          <p:cNvSpPr txBox="1">
            <a:spLocks noChangeArrowheads="1"/>
          </p:cNvSpPr>
          <p:nvPr/>
        </p:nvSpPr>
        <p:spPr bwMode="auto">
          <a:xfrm>
            <a:off x="4800600" y="5029200"/>
            <a:ext cx="4191000" cy="116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The image shows how the infrared sensor input to the microcontroller when mounted on a servo motor matches the actual placement of the obstacles. </a:t>
            </a:r>
          </a:p>
          <a:p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Detecting Victims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7543800" cy="2971800"/>
          </a:xfrm>
        </p:spPr>
        <p:txBody>
          <a:bodyPr/>
          <a:lstStyle/>
          <a:p>
            <a:r>
              <a:rPr lang="en-US" sz="2400"/>
              <a:t>Victims: Green LED in PVC cap</a:t>
            </a:r>
          </a:p>
          <a:p>
            <a:pPr lvl="1"/>
            <a:r>
              <a:rPr lang="en-US" sz="2000"/>
              <a:t>ON = Conscious</a:t>
            </a:r>
          </a:p>
          <a:p>
            <a:pPr lvl="1"/>
            <a:r>
              <a:rPr lang="en-US" sz="2000"/>
              <a:t>OFF = Dead</a:t>
            </a:r>
          </a:p>
          <a:p>
            <a:pPr lvl="2"/>
            <a:r>
              <a:rPr lang="en-US" sz="1600"/>
              <a:t>No battery connections</a:t>
            </a:r>
          </a:p>
          <a:p>
            <a:pPr lvl="1"/>
            <a:r>
              <a:rPr lang="en-US" sz="2000"/>
              <a:t>Blinking = Unconscious</a:t>
            </a:r>
          </a:p>
          <a:p>
            <a:pPr lvl="2"/>
            <a:r>
              <a:rPr lang="en-US" sz="1600"/>
              <a:t>2 Hz with 50% duty cycle</a:t>
            </a:r>
          </a:p>
          <a:p>
            <a:pPr lvl="2"/>
            <a:r>
              <a:rPr lang="en-US" sz="1600"/>
              <a:t>Blinks twice every second</a:t>
            </a:r>
          </a:p>
          <a:p>
            <a:endParaRPr lang="en-US" sz="2400"/>
          </a:p>
        </p:txBody>
      </p:sp>
      <p:pic>
        <p:nvPicPr>
          <p:cNvPr id="19460" name="Picture 15" descr="H:\DCIM\100Z1485\100_1408.JPG"/>
          <p:cNvPicPr>
            <a:picLocks noChangeAspect="1" noChangeArrowheads="1"/>
          </p:cNvPicPr>
          <p:nvPr/>
        </p:nvPicPr>
        <p:blipFill>
          <a:blip r:embed="rId2"/>
          <a:srcRect l="18150" t="24197" r="23212" b="18102"/>
          <a:stretch>
            <a:fillRect/>
          </a:stretch>
        </p:blipFill>
        <p:spPr bwMode="auto">
          <a:xfrm>
            <a:off x="762000" y="4119563"/>
            <a:ext cx="3505200" cy="2586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6"/>
          <p:cNvPicPr>
            <a:picLocks noChangeAspect="1" noChangeArrowheads="1"/>
          </p:cNvPicPr>
          <p:nvPr/>
        </p:nvPicPr>
        <p:blipFill>
          <a:blip r:embed="rId3"/>
          <a:srcRect l="39166" t="18520" r="14999" b="38344"/>
          <a:stretch>
            <a:fillRect/>
          </a:stretch>
        </p:blipFill>
        <p:spPr bwMode="auto">
          <a:xfrm>
            <a:off x="4343400" y="4340225"/>
            <a:ext cx="4470400" cy="236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Content Placeholder 2"/>
          <p:cNvSpPr txBox="1">
            <a:spLocks/>
          </p:cNvSpPr>
          <p:nvPr/>
        </p:nvSpPr>
        <p:spPr>
          <a:xfrm>
            <a:off x="4495800" y="1600200"/>
            <a:ext cx="4648200" cy="4800600"/>
          </a:xfrm>
          <a:prstGeom prst="rect">
            <a:avLst/>
          </a:prstGeom>
        </p:spPr>
        <p:txBody>
          <a:bodyPr lIns="54864" tIns="91440">
            <a:normAutofit/>
          </a:bodyPr>
          <a:lstStyle/>
          <a:p>
            <a:pPr marL="438912" indent="-32004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2400" dirty="0">
                <a:latin typeface="+mn-lt"/>
              </a:rPr>
              <a:t>Detection: Green LED used to detect the victim green LED</a:t>
            </a:r>
          </a:p>
          <a:p>
            <a:pPr marL="896112" lvl="1" indent="-32004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defRPr/>
            </a:pPr>
            <a:r>
              <a:rPr lang="en-US" sz="1600" dirty="0">
                <a:latin typeface="+mn-lt"/>
              </a:rPr>
              <a:t>a) Connect to two bidirectional I/O pins and drive LED with current in forward direction</a:t>
            </a:r>
          </a:p>
          <a:p>
            <a:pPr marL="896112" lvl="1" indent="-32004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defRPr/>
            </a:pPr>
            <a:r>
              <a:rPr lang="en-US" sz="1600" dirty="0">
                <a:latin typeface="+mn-lt"/>
              </a:rPr>
              <a:t>b) Drive LED in the reverse-bias direction</a:t>
            </a:r>
          </a:p>
          <a:p>
            <a:pPr marL="896112" lvl="1" indent="-32004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defRPr/>
            </a:pPr>
            <a:r>
              <a:rPr lang="en-US" sz="1600" dirty="0">
                <a:latin typeface="+mn-lt"/>
              </a:rPr>
              <a:t>c) Current discharges and is measured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n-US" sz="2000" dirty="0">
                <a:latin typeface="+mn-lt"/>
              </a:rPr>
              <a:t>Time to discharge is inversely proportional to  amount of incident light measured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Robot Output</a:t>
            </a:r>
          </a:p>
        </p:txBody>
      </p:sp>
      <p:pic>
        <p:nvPicPr>
          <p:cNvPr id="20483" name="Picture 3" descr="E:\Robot Pictures\100_1420.JPG"/>
          <p:cNvPicPr>
            <a:picLocks noChangeAspect="1" noChangeArrowheads="1"/>
          </p:cNvPicPr>
          <p:nvPr/>
        </p:nvPicPr>
        <p:blipFill>
          <a:blip r:embed="rId2"/>
          <a:srcRect l="21506" t="9573" r="16908" b="3421"/>
          <a:stretch>
            <a:fillRect/>
          </a:stretch>
        </p:blipFill>
        <p:spPr bwMode="auto">
          <a:xfrm>
            <a:off x="1371600" y="1828800"/>
            <a:ext cx="4386263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Down Arrow 8"/>
          <p:cNvSpPr/>
          <p:nvPr/>
        </p:nvSpPr>
        <p:spPr>
          <a:xfrm rot="16200000">
            <a:off x="609600" y="2209800"/>
            <a:ext cx="609600" cy="18288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defRPr/>
            </a:pPr>
            <a:endParaRPr lang="en-US" dirty="0"/>
          </a:p>
        </p:txBody>
      </p:sp>
      <p:sp>
        <p:nvSpPr>
          <p:cNvPr id="10" name="Down Arrow 9"/>
          <p:cNvSpPr/>
          <p:nvPr/>
        </p:nvSpPr>
        <p:spPr>
          <a:xfrm rot="5400000">
            <a:off x="6595268" y="2243932"/>
            <a:ext cx="754063" cy="43434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Bent-Up Arrow 10"/>
          <p:cNvSpPr/>
          <p:nvPr/>
        </p:nvSpPr>
        <p:spPr>
          <a:xfrm rot="10800000">
            <a:off x="3929063" y="1981200"/>
            <a:ext cx="5214937" cy="2141538"/>
          </a:xfrm>
          <a:prstGeom prst="bentUpArrow">
            <a:avLst>
              <a:gd name="adj1" fmla="val 20730"/>
              <a:gd name="adj2" fmla="val 13782"/>
              <a:gd name="adj3" fmla="val 2074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7" name="TextBox 5"/>
          <p:cNvSpPr txBox="1">
            <a:spLocks noChangeArrowheads="1"/>
          </p:cNvSpPr>
          <p:nvPr/>
        </p:nvSpPr>
        <p:spPr bwMode="auto">
          <a:xfrm>
            <a:off x="6400800" y="4183063"/>
            <a:ext cx="11953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Display</a:t>
            </a:r>
          </a:p>
        </p:txBody>
      </p:sp>
      <p:sp>
        <p:nvSpPr>
          <p:cNvPr id="20488" name="TextBox 7"/>
          <p:cNvSpPr txBox="1">
            <a:spLocks noChangeArrowheads="1"/>
          </p:cNvSpPr>
          <p:nvPr/>
        </p:nvSpPr>
        <p:spPr bwMode="auto">
          <a:xfrm>
            <a:off x="76200" y="2890838"/>
            <a:ext cx="137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Speaker</a:t>
            </a:r>
          </a:p>
        </p:txBody>
      </p:sp>
      <p:sp>
        <p:nvSpPr>
          <p:cNvPr id="20489" name="TextBox 6"/>
          <p:cNvSpPr txBox="1">
            <a:spLocks noChangeArrowheads="1"/>
          </p:cNvSpPr>
          <p:nvPr/>
        </p:nvSpPr>
        <p:spPr bwMode="auto">
          <a:xfrm>
            <a:off x="5800725" y="1981200"/>
            <a:ext cx="33432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Audio Controller</a:t>
            </a:r>
          </a:p>
        </p:txBody>
      </p:sp>
      <p:sp>
        <p:nvSpPr>
          <p:cNvPr id="20490" name="Content Placeholder 2"/>
          <p:cNvSpPr>
            <a:spLocks noGrp="1"/>
          </p:cNvSpPr>
          <p:nvPr>
            <p:ph sz="half" idx="1"/>
          </p:nvPr>
        </p:nvSpPr>
        <p:spPr>
          <a:xfrm>
            <a:off x="5715000" y="2438400"/>
            <a:ext cx="3429000" cy="5334000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sz="1600"/>
              <a:t>Voice synthesizer</a:t>
            </a:r>
          </a:p>
          <a:p>
            <a:pPr>
              <a:buFont typeface="Wingdings 2" pitchFamily="18" charset="2"/>
              <a:buNone/>
            </a:pPr>
            <a:r>
              <a:rPr lang="en-US" sz="1600"/>
              <a:t>Developed by RC Systems</a:t>
            </a:r>
          </a:p>
          <a:p>
            <a:pPr>
              <a:buFont typeface="Wingdings 2" pitchFamily="18" charset="2"/>
              <a:buNone/>
            </a:pPr>
            <a:r>
              <a:rPr lang="en-US" sz="1600"/>
              <a:t>Model: V8600A</a:t>
            </a:r>
          </a:p>
          <a:p>
            <a:pPr>
              <a:buFont typeface="Wingdings 2" pitchFamily="18" charset="2"/>
              <a:buNone/>
            </a:pPr>
            <a:endParaRPr lang="en-US" sz="1600"/>
          </a:p>
          <a:p>
            <a:pPr>
              <a:buFont typeface="Wingdings 2" pitchFamily="18" charset="2"/>
              <a:buNone/>
            </a:pPr>
            <a:endParaRPr lang="en-US" sz="1600"/>
          </a:p>
          <a:p>
            <a:pPr>
              <a:buFont typeface="Wingdings 2" pitchFamily="18" charset="2"/>
              <a:buNone/>
            </a:pPr>
            <a:endParaRPr lang="en-US" sz="1600"/>
          </a:p>
          <a:p>
            <a:pPr>
              <a:buFont typeface="Wingdings 2" pitchFamily="18" charset="2"/>
              <a:buNone/>
            </a:pPr>
            <a:endParaRPr lang="en-US" sz="1600"/>
          </a:p>
          <a:p>
            <a:pPr>
              <a:buFont typeface="Wingdings 2" pitchFamily="18" charset="2"/>
              <a:buNone/>
            </a:pPr>
            <a:endParaRPr lang="en-US" sz="1600"/>
          </a:p>
          <a:p>
            <a:pPr>
              <a:buFont typeface="Wingdings 2" pitchFamily="18" charset="2"/>
              <a:buNone/>
            </a:pPr>
            <a:endParaRPr lang="en-US" sz="1600"/>
          </a:p>
          <a:p>
            <a:pPr>
              <a:buFont typeface="Wingdings 2" pitchFamily="18" charset="2"/>
              <a:buNone/>
            </a:pPr>
            <a:r>
              <a:rPr lang="en-US" sz="1600"/>
              <a:t>4 digit LED display</a:t>
            </a:r>
          </a:p>
          <a:p>
            <a:pPr>
              <a:buFont typeface="Wingdings 2" pitchFamily="18" charset="2"/>
              <a:buNone/>
            </a:pPr>
            <a:r>
              <a:rPr lang="en-US" sz="1600"/>
              <a:t>1” Alphanumeric numbers</a:t>
            </a:r>
          </a:p>
          <a:p>
            <a:pPr>
              <a:buFont typeface="Wingdings 2" pitchFamily="18" charset="2"/>
              <a:buNone/>
            </a:pPr>
            <a:r>
              <a:rPr lang="en-US" sz="1600"/>
              <a:t>Controlled by stackable serial drivers</a:t>
            </a:r>
          </a:p>
          <a:p>
            <a:pPr>
              <a:buFont typeface="Wingdings 2" pitchFamily="18" charset="2"/>
              <a:buNone/>
            </a:pPr>
            <a:r>
              <a:rPr lang="en-US" sz="1600"/>
              <a:t>Bright  segments</a:t>
            </a:r>
          </a:p>
          <a:p>
            <a:pPr>
              <a:buFont typeface="Wingdings 2" pitchFamily="18" charset="2"/>
              <a:buNone/>
            </a:pPr>
            <a:r>
              <a:rPr lang="en-US" sz="1600"/>
              <a:t>Covered with antiglare material to increase readability</a:t>
            </a:r>
          </a:p>
        </p:txBody>
      </p:sp>
      <p:sp>
        <p:nvSpPr>
          <p:cNvPr id="20491" name="Rectangle 12"/>
          <p:cNvSpPr>
            <a:spLocks noChangeArrowheads="1"/>
          </p:cNvSpPr>
          <p:nvPr/>
        </p:nvSpPr>
        <p:spPr bwMode="auto">
          <a:xfrm>
            <a:off x="304800" y="3352800"/>
            <a:ext cx="825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8 ohm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Robot Body</a:t>
            </a:r>
          </a:p>
        </p:txBody>
      </p:sp>
      <p:pic>
        <p:nvPicPr>
          <p:cNvPr id="21507" name="Picture 2" descr="E:\Robot Pictures\100_1417.JPG"/>
          <p:cNvPicPr>
            <a:picLocks noChangeAspect="1" noChangeArrowheads="1"/>
          </p:cNvPicPr>
          <p:nvPr/>
        </p:nvPicPr>
        <p:blipFill>
          <a:blip r:embed="rId2"/>
          <a:srcRect l="15071" r="7716" b="10774"/>
          <a:stretch>
            <a:fillRect/>
          </a:stretch>
        </p:blipFill>
        <p:spPr bwMode="auto">
          <a:xfrm>
            <a:off x="228600" y="1752600"/>
            <a:ext cx="5627688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own Arrow 7"/>
          <p:cNvSpPr/>
          <p:nvPr/>
        </p:nvSpPr>
        <p:spPr>
          <a:xfrm rot="5400000">
            <a:off x="7086600" y="685800"/>
            <a:ext cx="533400" cy="35814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Down Arrow 8"/>
          <p:cNvSpPr/>
          <p:nvPr/>
        </p:nvSpPr>
        <p:spPr>
          <a:xfrm rot="5400000">
            <a:off x="6591300" y="1943100"/>
            <a:ext cx="609600" cy="44958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Down Arrow 9"/>
          <p:cNvSpPr/>
          <p:nvPr/>
        </p:nvSpPr>
        <p:spPr>
          <a:xfrm rot="5400000">
            <a:off x="6477000" y="3048000"/>
            <a:ext cx="533400" cy="48006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11" name="TextBox 10"/>
          <p:cNvSpPr txBox="1">
            <a:spLocks noChangeArrowheads="1"/>
          </p:cNvSpPr>
          <p:nvPr/>
        </p:nvSpPr>
        <p:spPr bwMode="auto">
          <a:xfrm>
            <a:off x="6883400" y="2286000"/>
            <a:ext cx="104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Wheels</a:t>
            </a:r>
          </a:p>
        </p:txBody>
      </p:sp>
      <p:sp>
        <p:nvSpPr>
          <p:cNvPr id="21512" name="TextBox 11"/>
          <p:cNvSpPr txBox="1">
            <a:spLocks noChangeArrowheads="1"/>
          </p:cNvSpPr>
          <p:nvPr/>
        </p:nvSpPr>
        <p:spPr bwMode="auto">
          <a:xfrm>
            <a:off x="5943600" y="5257800"/>
            <a:ext cx="30321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Micro DC Geared Motors</a:t>
            </a:r>
          </a:p>
        </p:txBody>
      </p:sp>
      <p:sp>
        <p:nvSpPr>
          <p:cNvPr id="21513" name="TextBox 12"/>
          <p:cNvSpPr txBox="1">
            <a:spLocks noChangeArrowheads="1"/>
          </p:cNvSpPr>
          <p:nvPr/>
        </p:nvSpPr>
        <p:spPr bwMode="auto">
          <a:xfrm>
            <a:off x="6553200" y="3962400"/>
            <a:ext cx="16367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Battery Pack</a:t>
            </a: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5943600" y="5599113"/>
            <a:ext cx="2971800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Gear ratio: 1:120</a:t>
            </a:r>
          </a:p>
          <a:p>
            <a:r>
              <a:rPr lang="en-US" sz="1600"/>
              <a:t> No-load speed (6V): 180RPM</a:t>
            </a:r>
          </a:p>
          <a:p>
            <a:r>
              <a:rPr lang="en-US" sz="1600"/>
              <a:t>Stall current(6V):470mA </a:t>
            </a:r>
          </a:p>
          <a:p>
            <a:r>
              <a:rPr lang="pt-BR" sz="1600"/>
              <a:t>Torque (6V): 1.92Kgcm </a:t>
            </a: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5943600" y="2667000"/>
            <a:ext cx="3200400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8 cm. diameter </a:t>
            </a:r>
            <a:r>
              <a:rPr lang="en-US" sz="1600"/>
              <a:t>diamond-tread</a:t>
            </a:r>
            <a:r>
              <a:rPr lang="en-US" sz="1400"/>
              <a:t> wheels</a:t>
            </a:r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5943600" y="4343400"/>
            <a:ext cx="2286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8 AA batteries</a:t>
            </a:r>
          </a:p>
          <a:p>
            <a:r>
              <a:rPr lang="en-US" sz="1600"/>
              <a:t>Nominal voltage = 12V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>
                <a:solidFill>
                  <a:schemeClr val="accent1">
                    <a:satMod val="150000"/>
                  </a:schemeClr>
                </a:solidFill>
              </a:rPr>
              <a:t>Overall Program Design</a:t>
            </a:r>
          </a:p>
        </p:txBody>
      </p:sp>
      <p:sp>
        <p:nvSpPr>
          <p:cNvPr id="50" name="Rectangle 49"/>
          <p:cNvSpPr/>
          <p:nvPr/>
        </p:nvSpPr>
        <p:spPr>
          <a:xfrm rot="5400000">
            <a:off x="7734300" y="3543300"/>
            <a:ext cx="152400" cy="76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057400" y="6019800"/>
            <a:ext cx="2438400" cy="76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" name="Rectangle 51"/>
          <p:cNvSpPr/>
          <p:nvPr/>
        </p:nvSpPr>
        <p:spPr>
          <a:xfrm rot="5400000">
            <a:off x="7886700" y="5829300"/>
            <a:ext cx="152400" cy="76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2133600" y="5181600"/>
            <a:ext cx="1524000" cy="76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" name="Down Arrow 53"/>
          <p:cNvSpPr/>
          <p:nvPr/>
        </p:nvSpPr>
        <p:spPr>
          <a:xfrm>
            <a:off x="5715000" y="2819400"/>
            <a:ext cx="152400" cy="3048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" name="Down Arrow 54"/>
          <p:cNvSpPr/>
          <p:nvPr/>
        </p:nvSpPr>
        <p:spPr>
          <a:xfrm>
            <a:off x="5715000" y="3581400"/>
            <a:ext cx="152400" cy="3048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" name="Down Arrow 55"/>
          <p:cNvSpPr/>
          <p:nvPr/>
        </p:nvSpPr>
        <p:spPr>
          <a:xfrm>
            <a:off x="5715000" y="2057400"/>
            <a:ext cx="152400" cy="3048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6781800" y="2590800"/>
            <a:ext cx="1524000" cy="76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8" name="Right Arrow 57"/>
          <p:cNvSpPr/>
          <p:nvPr/>
        </p:nvSpPr>
        <p:spPr>
          <a:xfrm>
            <a:off x="6781800" y="3352800"/>
            <a:ext cx="533400" cy="15240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9" name="Down Arrow 58"/>
          <p:cNvSpPr/>
          <p:nvPr/>
        </p:nvSpPr>
        <p:spPr>
          <a:xfrm>
            <a:off x="5715000" y="5856288"/>
            <a:ext cx="152400" cy="315912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" name="Right Arrow 59"/>
          <p:cNvSpPr/>
          <p:nvPr/>
        </p:nvSpPr>
        <p:spPr>
          <a:xfrm>
            <a:off x="6781800" y="5638800"/>
            <a:ext cx="533400" cy="141288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2133600" y="2895600"/>
            <a:ext cx="1524000" cy="76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2" name="Down Arrow 61"/>
          <p:cNvSpPr/>
          <p:nvPr/>
        </p:nvSpPr>
        <p:spPr>
          <a:xfrm>
            <a:off x="1066800" y="3124200"/>
            <a:ext cx="152400" cy="3048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Down Arrow 62"/>
          <p:cNvSpPr/>
          <p:nvPr/>
        </p:nvSpPr>
        <p:spPr>
          <a:xfrm>
            <a:off x="1066800" y="3886200"/>
            <a:ext cx="152400" cy="3048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4" name="Down Arrow 63"/>
          <p:cNvSpPr/>
          <p:nvPr/>
        </p:nvSpPr>
        <p:spPr>
          <a:xfrm>
            <a:off x="1066800" y="4648200"/>
            <a:ext cx="152400" cy="3048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5" name="Down Arrow 64"/>
          <p:cNvSpPr/>
          <p:nvPr/>
        </p:nvSpPr>
        <p:spPr>
          <a:xfrm>
            <a:off x="1066800" y="5410200"/>
            <a:ext cx="152400" cy="3048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Down Arrow 65"/>
          <p:cNvSpPr/>
          <p:nvPr/>
        </p:nvSpPr>
        <p:spPr>
          <a:xfrm>
            <a:off x="1066800" y="2362200"/>
            <a:ext cx="152400" cy="3048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Text Box 5"/>
          <p:cNvSpPr txBox="1">
            <a:spLocks noChangeArrowheads="1"/>
          </p:cNvSpPr>
          <p:nvPr/>
        </p:nvSpPr>
        <p:spPr bwMode="auto">
          <a:xfrm>
            <a:off x="152400" y="1981200"/>
            <a:ext cx="1981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move forward</a:t>
            </a:r>
          </a:p>
        </p:txBody>
      </p:sp>
      <p:sp>
        <p:nvSpPr>
          <p:cNvPr id="68" name="Text Box 5"/>
          <p:cNvSpPr txBox="1">
            <a:spLocks noChangeArrowheads="1"/>
          </p:cNvSpPr>
          <p:nvPr/>
        </p:nvSpPr>
        <p:spPr bwMode="auto">
          <a:xfrm>
            <a:off x="152400" y="3505200"/>
            <a:ext cx="1981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center of course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152400" y="2743200"/>
            <a:ext cx="1981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detect obstacle</a:t>
            </a:r>
          </a:p>
        </p:txBody>
      </p:sp>
      <p:sp>
        <p:nvSpPr>
          <p:cNvPr id="70" name="Text Box 5"/>
          <p:cNvSpPr txBox="1">
            <a:spLocks noChangeArrowheads="1"/>
          </p:cNvSpPr>
          <p:nvPr/>
        </p:nvSpPr>
        <p:spPr bwMode="auto">
          <a:xfrm>
            <a:off x="4800600" y="5475288"/>
            <a:ext cx="1981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detect victim</a:t>
            </a:r>
          </a:p>
        </p:txBody>
      </p:sp>
      <p:sp>
        <p:nvSpPr>
          <p:cNvPr id="71" name="Text Box 5"/>
          <p:cNvSpPr txBox="1">
            <a:spLocks noChangeArrowheads="1"/>
          </p:cNvSpPr>
          <p:nvPr/>
        </p:nvSpPr>
        <p:spPr bwMode="auto">
          <a:xfrm>
            <a:off x="4800600" y="3200400"/>
            <a:ext cx="1981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detect hazard</a:t>
            </a:r>
          </a:p>
        </p:txBody>
      </p:sp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152400" y="5029200"/>
            <a:ext cx="1981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detect obstacle</a:t>
            </a:r>
          </a:p>
        </p:txBody>
      </p: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52400" y="4267200"/>
            <a:ext cx="1981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move forward</a:t>
            </a:r>
          </a:p>
        </p:txBody>
      </p:sp>
      <p:sp>
        <p:nvSpPr>
          <p:cNvPr id="74" name="Text Box 5"/>
          <p:cNvSpPr txBox="1">
            <a:spLocks noChangeArrowheads="1"/>
          </p:cNvSpPr>
          <p:nvPr/>
        </p:nvSpPr>
        <p:spPr bwMode="auto">
          <a:xfrm>
            <a:off x="152400" y="5791200"/>
            <a:ext cx="1981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enter room</a:t>
            </a:r>
          </a:p>
        </p:txBody>
      </p:sp>
      <p:sp>
        <p:nvSpPr>
          <p:cNvPr id="75" name="Text Box 5"/>
          <p:cNvSpPr txBox="1">
            <a:spLocks noChangeArrowheads="1"/>
          </p:cNvSpPr>
          <p:nvPr/>
        </p:nvSpPr>
        <p:spPr bwMode="auto">
          <a:xfrm>
            <a:off x="4800600" y="2438400"/>
            <a:ext cx="1981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detect obstacle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00600" y="6248400"/>
            <a:ext cx="22098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program complete</a:t>
            </a:r>
          </a:p>
        </p:txBody>
      </p:sp>
      <p:sp>
        <p:nvSpPr>
          <p:cNvPr id="77" name="Text Box 5"/>
          <p:cNvSpPr txBox="1">
            <a:spLocks noChangeArrowheads="1"/>
          </p:cNvSpPr>
          <p:nvPr/>
        </p:nvSpPr>
        <p:spPr bwMode="auto">
          <a:xfrm>
            <a:off x="7391400" y="3200400"/>
            <a:ext cx="1524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report info</a:t>
            </a:r>
          </a:p>
        </p:txBody>
      </p:sp>
      <p:sp>
        <p:nvSpPr>
          <p:cNvPr id="78" name="Bent-Up Arrow 77"/>
          <p:cNvSpPr/>
          <p:nvPr/>
        </p:nvSpPr>
        <p:spPr>
          <a:xfrm rot="16200000">
            <a:off x="2438400" y="1752600"/>
            <a:ext cx="990600" cy="1447800"/>
          </a:xfrm>
          <a:prstGeom prst="bentUpArrow">
            <a:avLst>
              <a:gd name="adj1" fmla="val 10119"/>
              <a:gd name="adj2" fmla="val 15104"/>
              <a:gd name="adj3" fmla="val 2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9" name="TextBox 79"/>
          <p:cNvSpPr txBox="1">
            <a:spLocks noChangeArrowheads="1"/>
          </p:cNvSpPr>
          <p:nvPr/>
        </p:nvSpPr>
        <p:spPr bwMode="auto">
          <a:xfrm>
            <a:off x="2133600" y="2514600"/>
            <a:ext cx="6461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YES</a:t>
            </a:r>
          </a:p>
        </p:txBody>
      </p:sp>
      <p:sp>
        <p:nvSpPr>
          <p:cNvPr id="80" name="TextBox 80"/>
          <p:cNvSpPr txBox="1">
            <a:spLocks noChangeArrowheads="1"/>
          </p:cNvSpPr>
          <p:nvPr/>
        </p:nvSpPr>
        <p:spPr bwMode="auto">
          <a:xfrm>
            <a:off x="1295400" y="3124200"/>
            <a:ext cx="530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NO</a:t>
            </a:r>
          </a:p>
        </p:txBody>
      </p:sp>
      <p:sp>
        <p:nvSpPr>
          <p:cNvPr id="81" name="TextBox 81"/>
          <p:cNvSpPr txBox="1">
            <a:spLocks noChangeArrowheads="1"/>
          </p:cNvSpPr>
          <p:nvPr/>
        </p:nvSpPr>
        <p:spPr bwMode="auto">
          <a:xfrm>
            <a:off x="1295400" y="5410200"/>
            <a:ext cx="530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NO</a:t>
            </a:r>
          </a:p>
        </p:txBody>
      </p:sp>
      <p:sp>
        <p:nvSpPr>
          <p:cNvPr id="82" name="TextBox 84"/>
          <p:cNvSpPr txBox="1">
            <a:spLocks noChangeArrowheads="1"/>
          </p:cNvSpPr>
          <p:nvPr/>
        </p:nvSpPr>
        <p:spPr bwMode="auto">
          <a:xfrm>
            <a:off x="5943600" y="2819400"/>
            <a:ext cx="530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NO</a:t>
            </a:r>
          </a:p>
        </p:txBody>
      </p:sp>
      <p:sp>
        <p:nvSpPr>
          <p:cNvPr id="83" name="TextBox 86"/>
          <p:cNvSpPr txBox="1">
            <a:spLocks noChangeArrowheads="1"/>
          </p:cNvSpPr>
          <p:nvPr/>
        </p:nvSpPr>
        <p:spPr bwMode="auto">
          <a:xfrm>
            <a:off x="5943600" y="3581400"/>
            <a:ext cx="530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NO</a:t>
            </a:r>
          </a:p>
        </p:txBody>
      </p:sp>
      <p:sp>
        <p:nvSpPr>
          <p:cNvPr id="84" name="Text Box 5"/>
          <p:cNvSpPr txBox="1">
            <a:spLocks noChangeArrowheads="1"/>
          </p:cNvSpPr>
          <p:nvPr/>
        </p:nvSpPr>
        <p:spPr bwMode="auto">
          <a:xfrm>
            <a:off x="4800600" y="1676400"/>
            <a:ext cx="1981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move forward</a:t>
            </a:r>
          </a:p>
        </p:txBody>
      </p:sp>
      <p:sp>
        <p:nvSpPr>
          <p:cNvPr id="85" name="Bent-Up Arrow 84"/>
          <p:cNvSpPr/>
          <p:nvPr/>
        </p:nvSpPr>
        <p:spPr>
          <a:xfrm rot="16200000">
            <a:off x="2438400" y="4038600"/>
            <a:ext cx="990600" cy="1447800"/>
          </a:xfrm>
          <a:prstGeom prst="bentUpArrow">
            <a:avLst>
              <a:gd name="adj1" fmla="val 10119"/>
              <a:gd name="adj2" fmla="val 15104"/>
              <a:gd name="adj3" fmla="val 2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" name="TextBox 94"/>
          <p:cNvSpPr txBox="1">
            <a:spLocks noChangeArrowheads="1"/>
          </p:cNvSpPr>
          <p:nvPr/>
        </p:nvSpPr>
        <p:spPr bwMode="auto">
          <a:xfrm>
            <a:off x="2057400" y="4800600"/>
            <a:ext cx="6461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YES</a:t>
            </a:r>
          </a:p>
        </p:txBody>
      </p:sp>
      <p:sp>
        <p:nvSpPr>
          <p:cNvPr id="87" name="Bent-Up Arrow 86"/>
          <p:cNvSpPr/>
          <p:nvPr/>
        </p:nvSpPr>
        <p:spPr>
          <a:xfrm rot="16200000">
            <a:off x="7086600" y="1447800"/>
            <a:ext cx="990600" cy="1447800"/>
          </a:xfrm>
          <a:prstGeom prst="bentUpArrow">
            <a:avLst>
              <a:gd name="adj1" fmla="val 10119"/>
              <a:gd name="adj2" fmla="val 15104"/>
              <a:gd name="adj3" fmla="val 2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" name="TextBox 98"/>
          <p:cNvSpPr txBox="1">
            <a:spLocks noChangeArrowheads="1"/>
          </p:cNvSpPr>
          <p:nvPr/>
        </p:nvSpPr>
        <p:spPr bwMode="auto">
          <a:xfrm>
            <a:off x="6705600" y="2209800"/>
            <a:ext cx="6461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YES</a:t>
            </a:r>
          </a:p>
        </p:txBody>
      </p:sp>
      <p:sp>
        <p:nvSpPr>
          <p:cNvPr id="89" name="TextBox 102"/>
          <p:cNvSpPr txBox="1">
            <a:spLocks noChangeArrowheads="1"/>
          </p:cNvSpPr>
          <p:nvPr/>
        </p:nvSpPr>
        <p:spPr bwMode="auto">
          <a:xfrm>
            <a:off x="6705600" y="3048000"/>
            <a:ext cx="6461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YES</a:t>
            </a:r>
          </a:p>
        </p:txBody>
      </p:sp>
      <p:sp>
        <p:nvSpPr>
          <p:cNvPr id="90" name="TextBox 104"/>
          <p:cNvSpPr txBox="1">
            <a:spLocks noChangeArrowheads="1"/>
          </p:cNvSpPr>
          <p:nvPr/>
        </p:nvSpPr>
        <p:spPr bwMode="auto">
          <a:xfrm>
            <a:off x="5943600" y="5856288"/>
            <a:ext cx="5302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NO</a:t>
            </a:r>
          </a:p>
        </p:txBody>
      </p:sp>
      <p:sp>
        <p:nvSpPr>
          <p:cNvPr id="91" name="Text Box 5"/>
          <p:cNvSpPr txBox="1">
            <a:spLocks noChangeArrowheads="1"/>
          </p:cNvSpPr>
          <p:nvPr/>
        </p:nvSpPr>
        <p:spPr bwMode="auto">
          <a:xfrm>
            <a:off x="7391400" y="5475288"/>
            <a:ext cx="1524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report info</a:t>
            </a:r>
          </a:p>
        </p:txBody>
      </p:sp>
      <p:sp>
        <p:nvSpPr>
          <p:cNvPr id="92" name="TextBox 107"/>
          <p:cNvSpPr txBox="1">
            <a:spLocks noChangeArrowheads="1"/>
          </p:cNvSpPr>
          <p:nvPr/>
        </p:nvSpPr>
        <p:spPr bwMode="auto">
          <a:xfrm>
            <a:off x="6705600" y="5268913"/>
            <a:ext cx="6461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YES</a:t>
            </a:r>
          </a:p>
        </p:txBody>
      </p:sp>
      <p:sp>
        <p:nvSpPr>
          <p:cNvPr id="93" name="Down Arrow 92"/>
          <p:cNvSpPr/>
          <p:nvPr/>
        </p:nvSpPr>
        <p:spPr>
          <a:xfrm>
            <a:off x="5715000" y="5105400"/>
            <a:ext cx="152400" cy="3048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4" name="Down Arrow 93"/>
          <p:cNvSpPr/>
          <p:nvPr/>
        </p:nvSpPr>
        <p:spPr>
          <a:xfrm>
            <a:off x="5715000" y="4343400"/>
            <a:ext cx="152400" cy="304800"/>
          </a:xfrm>
          <a:prstGeom prst="down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6781800" y="4876800"/>
            <a:ext cx="1524000" cy="76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6" name="Text Box 5"/>
          <p:cNvSpPr txBox="1">
            <a:spLocks noChangeArrowheads="1"/>
          </p:cNvSpPr>
          <p:nvPr/>
        </p:nvSpPr>
        <p:spPr bwMode="auto">
          <a:xfrm>
            <a:off x="4800600" y="4724400"/>
            <a:ext cx="1981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detect obstacle</a:t>
            </a:r>
          </a:p>
        </p:txBody>
      </p:sp>
      <p:sp>
        <p:nvSpPr>
          <p:cNvPr id="97" name="TextBox 130"/>
          <p:cNvSpPr txBox="1">
            <a:spLocks noChangeArrowheads="1"/>
          </p:cNvSpPr>
          <p:nvPr/>
        </p:nvSpPr>
        <p:spPr bwMode="auto">
          <a:xfrm>
            <a:off x="5943600" y="5105400"/>
            <a:ext cx="530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NO</a:t>
            </a:r>
          </a:p>
        </p:txBody>
      </p:sp>
      <p:sp>
        <p:nvSpPr>
          <p:cNvPr id="98" name="Text Box 5"/>
          <p:cNvSpPr txBox="1">
            <a:spLocks noChangeArrowheads="1"/>
          </p:cNvSpPr>
          <p:nvPr/>
        </p:nvSpPr>
        <p:spPr bwMode="auto">
          <a:xfrm>
            <a:off x="4800600" y="3962400"/>
            <a:ext cx="19812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>
                <a:solidFill>
                  <a:srgbClr val="000000"/>
                </a:solidFill>
                <a:cs typeface="Arial" charset="0"/>
              </a:rPr>
              <a:t>move forward</a:t>
            </a:r>
          </a:p>
        </p:txBody>
      </p:sp>
      <p:sp>
        <p:nvSpPr>
          <p:cNvPr id="99" name="Bent-Up Arrow 98"/>
          <p:cNvSpPr/>
          <p:nvPr/>
        </p:nvSpPr>
        <p:spPr>
          <a:xfrm rot="16200000">
            <a:off x="7086600" y="3733800"/>
            <a:ext cx="990600" cy="1447800"/>
          </a:xfrm>
          <a:prstGeom prst="bentUpArrow">
            <a:avLst>
              <a:gd name="adj1" fmla="val 10119"/>
              <a:gd name="adj2" fmla="val 15104"/>
              <a:gd name="adj3" fmla="val 2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" name="TextBox 133"/>
          <p:cNvSpPr txBox="1">
            <a:spLocks noChangeArrowheads="1"/>
          </p:cNvSpPr>
          <p:nvPr/>
        </p:nvSpPr>
        <p:spPr bwMode="auto">
          <a:xfrm>
            <a:off x="6669088" y="4495800"/>
            <a:ext cx="6461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YES</a:t>
            </a:r>
          </a:p>
        </p:txBody>
      </p:sp>
      <p:sp>
        <p:nvSpPr>
          <p:cNvPr id="101" name="Rectangle 100"/>
          <p:cNvSpPr/>
          <p:nvPr/>
        </p:nvSpPr>
        <p:spPr>
          <a:xfrm rot="16200000">
            <a:off x="2423319" y="3977481"/>
            <a:ext cx="4191000" cy="4603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" name="Right Arrow 101"/>
          <p:cNvSpPr/>
          <p:nvPr/>
        </p:nvSpPr>
        <p:spPr>
          <a:xfrm>
            <a:off x="4495800" y="1752600"/>
            <a:ext cx="228600" cy="22860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3" name="Bent-Up Arrow 102"/>
          <p:cNvSpPr/>
          <p:nvPr/>
        </p:nvSpPr>
        <p:spPr>
          <a:xfrm rot="10800000">
            <a:off x="6781800" y="5943600"/>
            <a:ext cx="1219200" cy="266700"/>
          </a:xfrm>
          <a:prstGeom prst="bentUpArrow">
            <a:avLst>
              <a:gd name="adj1" fmla="val 10119"/>
              <a:gd name="adj2" fmla="val 21084"/>
              <a:gd name="adj3" fmla="val 2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4" name="Bent-Up Arrow 103"/>
          <p:cNvSpPr/>
          <p:nvPr/>
        </p:nvSpPr>
        <p:spPr>
          <a:xfrm rot="10800000">
            <a:off x="6629400" y="3657600"/>
            <a:ext cx="1219200" cy="266700"/>
          </a:xfrm>
          <a:prstGeom prst="bentUpArrow">
            <a:avLst>
              <a:gd name="adj1" fmla="val 10119"/>
              <a:gd name="adj2" fmla="val 17663"/>
              <a:gd name="adj3" fmla="val 2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5" name="Flowchart: Decision 104"/>
          <p:cNvSpPr/>
          <p:nvPr/>
        </p:nvSpPr>
        <p:spPr>
          <a:xfrm>
            <a:off x="2743200" y="2133600"/>
            <a:ext cx="1676400" cy="762000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TextBox 105"/>
          <p:cNvSpPr txBox="1"/>
          <p:nvPr/>
        </p:nvSpPr>
        <p:spPr>
          <a:xfrm>
            <a:off x="2971800" y="2173069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10000"/>
                  </a:schemeClr>
                </a:solidFill>
              </a:rPr>
              <a:t>avoid obstacle</a:t>
            </a:r>
          </a:p>
        </p:txBody>
      </p:sp>
      <p:sp>
        <p:nvSpPr>
          <p:cNvPr id="107" name="Flowchart: Decision 106"/>
          <p:cNvSpPr/>
          <p:nvPr/>
        </p:nvSpPr>
        <p:spPr>
          <a:xfrm>
            <a:off x="2743200" y="4419600"/>
            <a:ext cx="1676400" cy="762000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TextBox 107"/>
          <p:cNvSpPr txBox="1"/>
          <p:nvPr/>
        </p:nvSpPr>
        <p:spPr>
          <a:xfrm>
            <a:off x="2971800" y="4459069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10000"/>
                  </a:schemeClr>
                </a:solidFill>
              </a:rPr>
              <a:t>avoid obstacle</a:t>
            </a:r>
          </a:p>
        </p:txBody>
      </p:sp>
      <p:sp>
        <p:nvSpPr>
          <p:cNvPr id="109" name="Flowchart: Decision 108"/>
          <p:cNvSpPr/>
          <p:nvPr/>
        </p:nvSpPr>
        <p:spPr>
          <a:xfrm>
            <a:off x="7391400" y="1828800"/>
            <a:ext cx="1676400" cy="762000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TextBox 109"/>
          <p:cNvSpPr txBox="1"/>
          <p:nvPr/>
        </p:nvSpPr>
        <p:spPr>
          <a:xfrm>
            <a:off x="7620000" y="1868269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10000"/>
                  </a:schemeClr>
                </a:solidFill>
              </a:rPr>
              <a:t>avoid obstacle</a:t>
            </a:r>
          </a:p>
        </p:txBody>
      </p:sp>
      <p:sp>
        <p:nvSpPr>
          <p:cNvPr id="111" name="Flowchart: Decision 110"/>
          <p:cNvSpPr/>
          <p:nvPr/>
        </p:nvSpPr>
        <p:spPr>
          <a:xfrm>
            <a:off x="7391400" y="4114800"/>
            <a:ext cx="1676400" cy="762000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TextBox 111"/>
          <p:cNvSpPr txBox="1"/>
          <p:nvPr/>
        </p:nvSpPr>
        <p:spPr>
          <a:xfrm>
            <a:off x="7620000" y="4154269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10000"/>
                  </a:schemeClr>
                </a:solidFill>
              </a:rPr>
              <a:t>avoid obstacle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accent1">
                    <a:satMod val="150000"/>
                  </a:schemeClr>
                </a:solidFill>
              </a:rPr>
              <a:t>Cost</a:t>
            </a:r>
          </a:p>
        </p:txBody>
      </p:sp>
      <p:sp>
        <p:nvSpPr>
          <p:cNvPr id="23555" name="Content Placeholder 4"/>
          <p:cNvSpPr>
            <a:spLocks noGrp="1"/>
          </p:cNvSpPr>
          <p:nvPr>
            <p:ph sz="half" idx="1"/>
          </p:nvPr>
        </p:nvSpPr>
        <p:spPr>
          <a:xfrm>
            <a:off x="4953000" y="2286000"/>
            <a:ext cx="4114800" cy="4343400"/>
          </a:xfrm>
        </p:spPr>
        <p:txBody>
          <a:bodyPr/>
          <a:lstStyle/>
          <a:p>
            <a:r>
              <a:rPr lang="en-US" sz="2200"/>
              <a:t>Cost to reproduce</a:t>
            </a:r>
          </a:p>
          <a:p>
            <a:endParaRPr lang="en-US" sz="2200"/>
          </a:p>
          <a:p>
            <a:r>
              <a:rPr lang="en-US" sz="2200"/>
              <a:t>Minus course materials</a:t>
            </a:r>
          </a:p>
          <a:p>
            <a:pPr lvl="1"/>
            <a:r>
              <a:rPr lang="en-US" sz="2200"/>
              <a:t>prototype cost = $361.30</a:t>
            </a:r>
          </a:p>
          <a:p>
            <a:endParaRPr lang="en-US" sz="2200"/>
          </a:p>
          <a:p>
            <a:r>
              <a:rPr lang="en-US" sz="2200"/>
              <a:t>Relatively low</a:t>
            </a:r>
          </a:p>
          <a:p>
            <a:pPr lvl="1"/>
            <a:r>
              <a:rPr lang="en-US" sz="2200"/>
              <a:t>Salvaged components </a:t>
            </a:r>
          </a:p>
          <a:p>
            <a:pPr lvl="1">
              <a:buFontTx/>
              <a:buNone/>
            </a:pPr>
            <a:r>
              <a:rPr lang="en-US" sz="2200"/>
              <a:t>from previous projects</a:t>
            </a:r>
          </a:p>
        </p:txBody>
      </p:sp>
      <p:graphicFrame>
        <p:nvGraphicFramePr>
          <p:cNvPr id="32648" name="Group 904"/>
          <p:cNvGraphicFramePr>
            <a:graphicFrameLocks noGrp="1"/>
          </p:cNvGraphicFramePr>
          <p:nvPr/>
        </p:nvGraphicFramePr>
        <p:xfrm>
          <a:off x="838200" y="1676400"/>
          <a:ext cx="3509963" cy="4876800"/>
        </p:xfrm>
        <a:graphic>
          <a:graphicData uri="http://schemas.openxmlformats.org/drawingml/2006/table">
            <a:tbl>
              <a:tblPr/>
              <a:tblGrid>
                <a:gridCol w="2608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Part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Cost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Wiring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$10.00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SHARP Infrared Sensors (6)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$24.00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Electromagnetic Field Detector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$10.00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Green LEDs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$2.00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V8600A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Audio Synthesizer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$100.00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LED Digital Display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$30.00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Batteries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$35.00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360 full rotation servo motor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$13.50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180 servo motor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$15.60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Robot Body and Motors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$49.20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Arduino Mega Microcontroller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$55.00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DFRobot 2A Motor Controller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$17.00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 x 8 sheets of plywood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$120.00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 gallon of purple matte paint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$30.00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$511.30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ppt/theme/themeOverride2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945</TotalTime>
  <Words>896</Words>
  <Application>Microsoft Office PowerPoint</Application>
  <PresentationFormat>On-screen Show (4:3)</PresentationFormat>
  <Paragraphs>225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Corbel</vt:lpstr>
      <vt:lpstr>Tahoma</vt:lpstr>
      <vt:lpstr>Wingdings</vt:lpstr>
      <vt:lpstr>Wingdings 2</vt:lpstr>
      <vt:lpstr>Wingdings 3</vt:lpstr>
      <vt:lpstr>Module</vt:lpstr>
      <vt:lpstr>PowerPoint Presentation</vt:lpstr>
      <vt:lpstr>SoutheastCon Hardware Competition</vt:lpstr>
      <vt:lpstr>Design Specifications</vt:lpstr>
      <vt:lpstr>Scoring</vt:lpstr>
      <vt:lpstr>Course Layout</vt:lpstr>
      <vt:lpstr>Navigation Platform</vt:lpstr>
      <vt:lpstr>Calibrating Sensors</vt:lpstr>
      <vt:lpstr>Obstacle Detection</vt:lpstr>
      <vt:lpstr>Obstacle Avoidance</vt:lpstr>
      <vt:lpstr>Obstacle Avoidance</vt:lpstr>
      <vt:lpstr>Detecting Victims</vt:lpstr>
      <vt:lpstr>Robot Output</vt:lpstr>
      <vt:lpstr>Robot Body</vt:lpstr>
      <vt:lpstr>Overall Program Design</vt:lpstr>
      <vt:lpstr>Cost</vt:lpstr>
    </vt:vector>
  </TitlesOfParts>
  <Company>Christian Brothers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for the IEEE SoutheastCon Hardware Competition</dc:title>
  <dc:creator>Student</dc:creator>
  <cp:lastModifiedBy>Phillips_Nathaniel</cp:lastModifiedBy>
  <cp:revision>76</cp:revision>
  <dcterms:created xsi:type="dcterms:W3CDTF">2011-01-22T18:14:03Z</dcterms:created>
  <dcterms:modified xsi:type="dcterms:W3CDTF">2026-02-12T20:07:09Z</dcterms:modified>
</cp:coreProperties>
</file>